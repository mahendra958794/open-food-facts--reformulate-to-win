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5"/>
  </p:notesMasterIdLst>
  <p:sldIdLst>
    <p:sldId id="4864" r:id="rId3"/>
    <p:sldId id="4865" r:id="rId4"/>
    <p:sldId id="4877" r:id="rId5"/>
    <p:sldId id="4871" r:id="rId6"/>
    <p:sldId id="4872" r:id="rId7"/>
    <p:sldId id="4873" r:id="rId8"/>
    <p:sldId id="4874" r:id="rId9"/>
    <p:sldId id="4876" r:id="rId10"/>
    <p:sldId id="4878" r:id="rId11"/>
    <p:sldId id="4869" r:id="rId12"/>
    <p:sldId id="4870" r:id="rId13"/>
    <p:sldId id="4839" r:id="rId1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4B408-3FFF-4FC5-8953-A65E48E0B2D8}" v="36" dt="2025-12-03T16:40:46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21.2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230 112 23978,'231'463'0,"-231"-1038"0,0 1150 0,-460-920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3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57 24575,'1963'0'0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51.7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11 22524,'4389'0'0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37.7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63 24575,'493'0'0,"-468"2"0,1 1 0,-1 1 0,0 1 0,0 2 0,0 0 0,27 13 0,3 0 0,91 22 0,295 45 0,-372-75 0,70 8 0,-123-19 0,0-1 0,0 0 0,0-1 0,0-1 0,-1 0 0,27-9 0,6-4 0,-1-3 0,0-1 0,-2-3 0,55-34 0,-77 42 0,-19 12 0,0 0 0,1-1 0,-1 1 0,0-1 0,-1 0 0,1 0 0,0-1 0,-1 1 0,0-1 0,1 1 0,-1-1 0,4-9 0,35-70-1365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40.6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450 31 24575,'-74'1'0,"-82"-3"0,85-12 0,53 10 0,-1 0 0,-20-2 0,-34 5 0,784 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42.8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1 171 24575,'1392'0'-553,"-1369"-2"613,0-1 0,-1 0 0,1-2 0,-1-1 0,39-15 0,-29 9 37,49-10-1,-36 16-96,83-2 0,-49 6 0,6-11 0,-62 8 0,46-4 0,-43 7 0,47-10 0,-47 7 0,50-4 0,-21 9 0,-35 1 0,1-1 0,-1-1 0,1-1 0,33-7 0,18-5-1365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45.3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 0 24575,'1'1'0,"1"0"0,-1 0 0,1-1 0,-1 1 0,0 0 0,1 0 0,-1 0 0,0 0 0,0 1 0,0-1 0,0 0 0,0 0 0,0 1 0,0-1 0,0 1 0,0-1 0,-1 1 0,1-1 0,-1 1 0,1-1 0,0 4 0,4 7 0,16 33 0,21 62 0,-28-67 0,1-1 0,38 68 0,-46-94 0,-1 0 0,0 0 0,-1 1 0,5 23 0,-6-22 0,1 0 0,0 0 0,12 24 0,78 132 0,-79-144 0,-9-17 0,0 0 0,-1 0 0,0 1 0,-1 0 0,0 1 0,4 16 0,-8-25 0,-1-1 0,0 1 0,0-1 0,0 0 0,0 1 0,0-1 0,0 1 0,-1-1 0,1 1 0,-1-1 0,0 0 0,1 1 0,-1-1 0,0 0 0,-2 4 0,0-3 0,1-1 0,-1 1 0,1 0 0,-1-1 0,0 0 0,0 0 0,0 0 0,0 0 0,0 0 0,-1 0 0,1-1 0,0 1 0,-6 0 0,-7 2 0,-1 0 0,1-1 0,-1-1 0,-29-1 0,-68-7 0,105 5 0,0-1 0,0 0 0,0 0 0,1 0 0,-1-1 0,1 0 0,-1-1 0,1 0 0,0 0 0,0-1 0,-10-8 0,13 8 0,-1 0 0,1 0 0,0-1 0,1 1 0,-1-1 0,1 0 0,1-1 0,-1 1 0,1-1 0,0 1 0,0-1 0,1 0 0,0 0 0,-2-12 0,-25-93 0,16 66 0,12 42-170,0 1-1,1-1 0,0 0 1,-1 1-1,1-1 0,0 0 1,1-4-1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49:55.7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 24575,'0'-1'0,"0"0"0,0 0 0,1 0 0,-1 0 0,1 0 0,-1 0 0,0 0 0,1 0 0,0 0 0,-1 1 0,1-1 0,0 0 0,-1 0 0,1 1 0,0-1 0,0 0 0,0 1 0,-1-1 0,1 1 0,0-1 0,0 1 0,0-1 0,0 1 0,0-1 0,0 1 0,2 0 0,31-7 0,-31 7 0,76-5 0,103 5 0,-66 2 0,374-2 0,-462 2 0,1 0 0,34 9 0,-32-5 0,51 3 0,544-8 0,-300-3 0,627 2 0,-932-1 0,1-2 0,38-8 0,-37 6 0,0 1 0,28-1 0,-30 4 0,12 1 0,1-2 0,64-12 0,3-1 0,-1 1 0,-46 1 0,0 2 0,1 3 0,60-1 0,-84 7 0,57-10 0,-54 6 0,44-2 0,152 9-1365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50:00.3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24557,'5167'0'0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CCAC3FB-F4E3-4FD0-BC46-E9FA14EFD7E0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9625B0-023F-45EA-A50B-BE8DFC8B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FCCC-AC47-403C-9366-347A84B7B55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046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A710-185D-4223-B55E-854EC505C269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25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B2C-6950-4B0D-818E-B8BD47969A94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968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B498-8226-41DF-A95D-4B1758C7295D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EDAA-89A1-4F8A-9962-D9E2809FA9E9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997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513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7792-C37F-4A34-A112-F0070C7F433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529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BC26-91B1-4C50-BE35-8795EE1A2356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7692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9D6F-C8DE-4D62-A7E4-AA6606139B7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715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7F89-E7DD-42D8-8B58-5235AB68650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408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9396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810-A464-FE12-163B-55ADFE2A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A19D4-86EE-1B87-46B9-032917C2F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BD3E-E9CF-7B01-5ED2-F5B45EDB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AE94-169A-4DEA-88B3-C5D4C882F9E6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4CC-8657-F2DA-69B3-241A99D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F078-30D4-9585-02AC-C2E6EF1C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819-B3A7-9EDE-D7C3-8FB5905C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5DB1-02ED-A8DC-FCCA-A67B708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D0BC-9110-A470-5EF0-0EE55275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A0D3-0C2F-4BEA-84B5-7A68FF7D3368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AEF6-A369-88B7-CDFA-FD9B105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8CA5-2E17-0D2F-91F7-5B6D1F6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4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BC56-21FB-EEBE-BC45-5143BF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6BE9-3C2A-17FB-87C2-BD24B15F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1AE2-0DCB-46F1-BF15-DCB53B6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7CB-656F-4EBB-A136-C3FDD4612D88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D729-474E-9735-DE7E-D114775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E9282-36B8-CDA7-0FE2-278ED01B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2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D262-2836-99AF-CD7F-CB09EBB3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C74-7D82-0857-7A99-B3C8E1CF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E60-CE81-1078-FC4A-2F236B3B7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336D-62BB-3C32-00C5-9D0E311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3B88-0020-44C3-AFFF-0E49B3F2463F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BAA1B-1B83-4E47-FC94-56945DF6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53828-C9D9-3885-41D7-5E3D19CE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5B05-E4CA-C872-C737-384851CF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1738-D01E-5EFB-D0AA-AEB2225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D1D1-1490-4FD9-E33F-62AA0131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F92C-ED85-F3C8-F15C-1E6FC740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428E-0AAC-D3DE-20C8-EA7502183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B2622-6BE3-55A3-0DEE-68E33DB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EAF6-1CA4-4C7E-B724-B5BFAE52D2EC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FB727-1FF9-41C3-14DC-50BA52FB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B5BB-B963-E192-736E-B1423F37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22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03B-12DA-4E43-DC6D-EEC29D7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CED-C82A-ACFF-8E14-8CE9181C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F69-7311-47DF-91AB-4FFEC211C186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D8EB3-D3FC-57DF-D0FB-74B5E51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57E2E-4D48-BFA2-D83B-87A59325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2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E7A8-5103-20A9-A0E9-C319717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BCF3-8539-4470-923F-7F39E7B06160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F5766-83A2-B291-33A5-2509C68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B18-73D1-83C7-21E4-F6EDF91D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3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D715-3C0B-712B-DBB4-A1261A94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FF22-C30F-12D8-7720-6CF08DF8F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C555E-7B14-96BB-B707-49A651F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9B85-01E5-8EE2-1A44-6E65CEB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B67-1871-4DA7-89AF-FD4FF5F50C5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0D45-79E5-9F78-F370-BBE5A24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2228-BB35-5FE5-E42A-CE14EB82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5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0BAE-D582-EAA2-4D28-5AD6F5EF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F636-3B14-35FC-D8FF-3DB13B7C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0041-5F80-20E5-589A-F56EC4C8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7C5B-7C80-072D-AD96-3074B0BD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9DF5-0705-4657-A2EF-74F3755D8D7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08263-70AB-E265-FDC0-14421ED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1AD7-EE57-84C5-204C-EF2C2FD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6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A70C-1631-0CC4-5DD0-35555227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1EEE-264D-6362-7C38-AE1A1009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6F1C-1BF2-C395-E0C9-D58EFF47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7786-DC32-4A50-B49D-7DE296F09924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E846-2998-E810-75E4-C6E71E81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72BB-B40C-3C94-F680-4980CFB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9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61CA6-2CA4-9E45-E3DB-FD2CD59D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9F6A-D44C-800E-6B4D-7C659D85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F0E0-29D4-256B-03DD-1359C345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3A5-D720-4336-AC7F-F62CB3903813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93AF-A6D0-37AB-B793-53CDFA88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62B0-5855-FE87-F83A-338D29F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6669-728A-4767-A58B-E061FE28389A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3397D-9FB2-09F8-105B-1686345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3588-F929-1590-1A3B-5954709C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19E-DBB2-C833-E6ED-BE195FA4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466D2-B7C0-4A86-8132-5C4294393C5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197E-D729-1883-52C1-0FAC85E5A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1F47-0E3C-D8A7-3B0C-AD8B0784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" Type="http://schemas.openxmlformats.org/officeDocument/2006/relationships/image" Target="../media/image2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image" Target="../media/image4.jpe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D3D13-775A-8B9D-7145-7B499BE0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173F99-7AC2-5954-85AD-76F4EF95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 descr="A picture containing text, building">
            <a:extLst>
              <a:ext uri="{FF2B5EF4-FFF2-40B4-BE49-F238E27FC236}">
                <a16:creationId xmlns:a16="http://schemas.microsoft.com/office/drawing/2014/main" id="{BB2AB6C9-FA78-72C1-0034-4ED3FCAA6E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" t="20714" r="1"/>
          <a:stretch>
            <a:fillRect/>
          </a:stretch>
        </p:blipFill>
        <p:spPr>
          <a:xfrm>
            <a:off x="0" y="1754841"/>
            <a:ext cx="12192000" cy="5437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047CE-C35E-F6C5-E026-EAA80381C2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A4116-3604-90AE-7399-6908166C6A86}"/>
              </a:ext>
            </a:extLst>
          </p:cNvPr>
          <p:cNvSpPr txBox="1"/>
          <p:nvPr/>
        </p:nvSpPr>
        <p:spPr>
          <a:xfrm>
            <a:off x="8321732" y="523223"/>
            <a:ext cx="4471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395ED36-981C-BDED-1623-2E30A1FA6051}"/>
                  </a:ext>
                </a:extLst>
              </p14:cNvPr>
              <p14:cNvContentPartPr/>
              <p14:nvPr/>
            </p14:nvContentPartPr>
            <p14:xfrm>
              <a:off x="8593068" y="385400"/>
              <a:ext cx="165960" cy="20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395ED36-981C-BDED-1623-2E30A1FA60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0068" y="322400"/>
                <a:ext cx="2916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10B2D27-C907-5FD9-0AFB-700BD2039AB3}"/>
                  </a:ext>
                </a:extLst>
              </p14:cNvPr>
              <p14:cNvContentPartPr/>
              <p14:nvPr/>
            </p14:nvContentPartPr>
            <p14:xfrm>
              <a:off x="8873722" y="331789"/>
              <a:ext cx="70704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10B2D27-C907-5FD9-0AFB-700BD2039A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0722" y="205789"/>
                <a:ext cx="8326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44A4245-2A41-C40D-9AFD-E1800C6D5626}"/>
                  </a:ext>
                </a:extLst>
              </p14:cNvPr>
              <p14:cNvContentPartPr/>
              <p14:nvPr/>
            </p14:nvContentPartPr>
            <p14:xfrm>
              <a:off x="9766882" y="331789"/>
              <a:ext cx="158076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44A4245-2A41-C40D-9AFD-E1800C6D56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04242" y="205789"/>
                <a:ext cx="170640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01AD7FD-5795-B9DD-A92E-09E8A24C8CF6}"/>
              </a:ext>
            </a:extLst>
          </p:cNvPr>
          <p:cNvGrpSpPr/>
          <p:nvPr/>
        </p:nvGrpSpPr>
        <p:grpSpPr>
          <a:xfrm>
            <a:off x="8851925" y="228800"/>
            <a:ext cx="2671200" cy="363960"/>
            <a:chOff x="8738722" y="238909"/>
            <a:chExt cx="267120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F87623-2B2F-C963-B5EB-2109191E57A4}"/>
                    </a:ext>
                  </a:extLst>
                </p14:cNvPr>
                <p14:cNvContentPartPr/>
                <p14:nvPr/>
              </p14:nvContentPartPr>
              <p14:xfrm>
                <a:off x="8811442" y="455629"/>
                <a:ext cx="75168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F87623-2B2F-C963-B5EB-2109191E57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48442" y="392989"/>
                  <a:ext cx="877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E3E95E-50E1-CDBA-6D5C-B1106BC3F052}"/>
                    </a:ext>
                  </a:extLst>
                </p14:cNvPr>
                <p14:cNvContentPartPr/>
                <p14:nvPr/>
              </p14:nvContentPartPr>
              <p14:xfrm>
                <a:off x="9241642" y="467149"/>
                <a:ext cx="256320" cy="1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E3E95E-50E1-CDBA-6D5C-B1106BC3F0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78642" y="404509"/>
                  <a:ext cx="3819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7CFBF7-AFD0-E4DC-CE38-EA8D86DE8824}"/>
                    </a:ext>
                  </a:extLst>
                </p14:cNvPr>
                <p14:cNvContentPartPr/>
                <p14:nvPr/>
              </p14:nvContentPartPr>
              <p14:xfrm>
                <a:off x="8738722" y="541309"/>
                <a:ext cx="926280" cy="61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7CFBF7-AFD0-E4DC-CE38-EA8D86DE88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76082" y="478669"/>
                  <a:ext cx="1051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CA91F0-A212-2126-2993-92F1821DEF15}"/>
                    </a:ext>
                  </a:extLst>
                </p14:cNvPr>
                <p14:cNvContentPartPr/>
                <p14:nvPr/>
              </p14:nvContentPartPr>
              <p14:xfrm>
                <a:off x="9689842" y="238909"/>
                <a:ext cx="178920" cy="33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CA91F0-A212-2126-2993-92F1821DEF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26842" y="175909"/>
                  <a:ext cx="3045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3795086-D1FC-3490-857C-6B91859A6182}"/>
                    </a:ext>
                  </a:extLst>
                </p14:cNvPr>
                <p14:cNvContentPartPr/>
                <p14:nvPr/>
              </p14:nvContentPartPr>
              <p14:xfrm>
                <a:off x="9829522" y="405229"/>
                <a:ext cx="1580400" cy="52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3795086-D1FC-3490-857C-6B91859A61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66882" y="342229"/>
                  <a:ext cx="170604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95980AE-7F09-54D3-D1E5-80C39E668D16}"/>
                  </a:ext>
                </a:extLst>
              </p14:cNvPr>
              <p14:cNvContentPartPr/>
              <p14:nvPr/>
            </p14:nvContentPartPr>
            <p14:xfrm>
              <a:off x="9954082" y="560749"/>
              <a:ext cx="186084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95980AE-7F09-54D3-D1E5-80C39E668D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91442" y="435469"/>
                <a:ext cx="198648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19EBDD-7906-9FE9-5D69-5DF1B7BCA3CC}"/>
              </a:ext>
            </a:extLst>
          </p:cNvPr>
          <p:cNvSpPr txBox="1">
            <a:spLocks/>
          </p:cNvSpPr>
          <p:nvPr/>
        </p:nvSpPr>
        <p:spPr>
          <a:xfrm>
            <a:off x="296408" y="1654392"/>
            <a:ext cx="10224447" cy="108574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OPEN FOOD FACT : REFORMULATE TO WIN</a:t>
            </a:r>
          </a:p>
        </p:txBody>
      </p:sp>
    </p:spTree>
    <p:extLst>
      <p:ext uri="{BB962C8B-B14F-4D97-AF65-F5344CB8AC3E}">
        <p14:creationId xmlns:p14="http://schemas.microsoft.com/office/powerpoint/2010/main" val="1139431816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D153-553C-460C-C993-8ECA6DCC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4994-3EF6-47F2-3E80-37ADB81BC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objective of this project is to analyze food and beverage products using nutrition data from the </a:t>
            </a:r>
            <a:r>
              <a:rPr lang="en-US" sz="3200" b="1" dirty="0"/>
              <a:t>Open Food Facts database</a:t>
            </a:r>
            <a:r>
              <a:rPr lang="en-US" sz="3200" dirty="0"/>
              <a:t> to:</a:t>
            </a:r>
          </a:p>
          <a:p>
            <a:r>
              <a:rPr lang="en-US" sz="3200" dirty="0"/>
              <a:t>Evaluate product healthiness</a:t>
            </a:r>
          </a:p>
          <a:p>
            <a:r>
              <a:rPr lang="en-US" sz="3200" dirty="0"/>
              <a:t>Identify unhealthy product clusters</a:t>
            </a:r>
          </a:p>
          <a:p>
            <a:r>
              <a:rPr lang="en-US" sz="3200" dirty="0"/>
              <a:t>Benchmark brands based on health scores</a:t>
            </a:r>
          </a:p>
          <a:p>
            <a:r>
              <a:rPr lang="en-US" sz="3200" dirty="0"/>
              <a:t>Suggest reformulation opportunities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C54A8-A181-1467-5A62-15AA3CC2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BFAEA-A0E2-B699-D725-2C92EB04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7029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E81E-513D-2AB3-D774-F68611C1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 &amp;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44B5-6678-E9B5-3C92-89628AEEE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Data Source</a:t>
            </a:r>
          </a:p>
          <a:p>
            <a:pPr marL="0" indent="0">
              <a:buNone/>
            </a:pPr>
            <a:r>
              <a:rPr lang="en-IN" dirty="0"/>
              <a:t>Open Food Facts (OFF) – Global open database of food products</a:t>
            </a:r>
          </a:p>
          <a:p>
            <a:pPr marL="0" indent="0">
              <a:buNone/>
            </a:pPr>
            <a:r>
              <a:rPr lang="en-IN" dirty="0"/>
              <a:t>Nutrition information such as:</a:t>
            </a:r>
          </a:p>
          <a:p>
            <a:pPr marL="457200" lvl="1" indent="0">
              <a:buNone/>
            </a:pPr>
            <a:r>
              <a:rPr lang="en-IN" dirty="0"/>
              <a:t>Energy, Fat, Saturated Fat, Sugar, Salt, Vegan &amp; Palm oil indicators</a:t>
            </a:r>
          </a:p>
          <a:p>
            <a:pPr marL="0" indent="0">
              <a:buNone/>
            </a:pPr>
            <a:r>
              <a:rPr lang="en-IN" b="1" dirty="0"/>
              <a:t>Tools &amp; Technologies Used</a:t>
            </a:r>
          </a:p>
          <a:p>
            <a:pPr marL="0" indent="0">
              <a:buNone/>
            </a:pPr>
            <a:r>
              <a:rPr lang="en-IN" b="1" dirty="0"/>
              <a:t>Python</a:t>
            </a:r>
            <a:r>
              <a:rPr lang="en-IN" dirty="0"/>
              <a:t> → Data extraction &amp; cleaning</a:t>
            </a:r>
          </a:p>
          <a:p>
            <a:pPr marL="0" indent="0">
              <a:buNone/>
            </a:pPr>
            <a:r>
              <a:rPr lang="en-IN" b="1" dirty="0"/>
              <a:t>SQL Server</a:t>
            </a:r>
            <a:r>
              <a:rPr lang="en-IN" dirty="0"/>
              <a:t> → Data storage &amp; analysis</a:t>
            </a:r>
          </a:p>
          <a:p>
            <a:pPr marL="0" indent="0">
              <a:buNone/>
            </a:pPr>
            <a:r>
              <a:rPr lang="en-IN" b="1" dirty="0"/>
              <a:t>Power BI</a:t>
            </a:r>
            <a:r>
              <a:rPr lang="en-IN" dirty="0"/>
              <a:t> → Dashboard &amp; visualization</a:t>
            </a:r>
          </a:p>
          <a:p>
            <a:pPr marL="0" indent="0">
              <a:buNone/>
            </a:pPr>
            <a:r>
              <a:rPr lang="en-IN" b="1" dirty="0"/>
              <a:t>Excel</a:t>
            </a:r>
            <a:r>
              <a:rPr lang="en-IN" dirty="0"/>
              <a:t> → Data validation &amp; export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28521-B721-A330-B014-7EE9FD88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EAE45-81D2-FCC0-8951-8E78E2DB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7653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21C73-C041-4656-3835-F9FFBB31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78D5F3-E4D2-8E6E-5DF8-3EABFFB1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3ED02-842F-D317-9919-88770A75C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17324" cy="5888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6CA9C-259C-C65B-76E2-30503B30F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635" y="913570"/>
            <a:ext cx="5048965" cy="58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3674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E354C-93CF-B8DF-15D8-62E5B9D0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95F41F-0024-D854-A464-F22917CF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56E5B-D9A4-5502-5246-4BAD9C61E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5306165" cy="2381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2E2178-BBFE-7B34-BAE7-12766F199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0573"/>
            <a:ext cx="5938345" cy="36581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99CA6F-D11E-9753-E946-750B129D36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345" y="1327316"/>
            <a:ext cx="6049220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7961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B32C9-DA64-C086-DFEB-F891ADC4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34507-6F5E-0152-E043-497D7EA8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6B2E7-D152-5B6E-FBE5-92959A5CD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96" y="1614234"/>
            <a:ext cx="4134427" cy="36295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63E22F-A7C3-11BC-2864-8F2888E2F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606" y="2947469"/>
            <a:ext cx="553479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235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E9F1E-B4E5-8240-B8A1-EB2B5111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D3EF8-FA2C-F4DC-B726-875D73B4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589D4-8E4F-CA5E-7960-880D3D49E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78" y="375668"/>
            <a:ext cx="6875594" cy="272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5565F5-58E6-E9E1-6AEB-85849487B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1509"/>
            <a:ext cx="12192000" cy="317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7482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0FFFE-D241-BD5D-0ADF-FA1971F0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CC784-413E-0F70-77BA-0D71B541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43226-7999-FC86-A054-82786912C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3200" cy="3995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A6E2D2-A5B0-6CF1-6287-86675E45A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7931"/>
            <a:ext cx="12192000" cy="313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2741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415FF-C1B4-34F9-4411-EBB9C2D8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FEDEB-AC2F-FA55-AC0B-A0434771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CB067AED-3876-5BEA-3683-A82AA821F6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43785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CB067AED-3876-5BEA-3683-A82AA821F6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228825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56D8-4A8B-70D1-4F77-F40F04A3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75AF-A4F1-D281-27F3-3CA89C03E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Certain FMCG categories have a high percentage of unhealthy products</a:t>
            </a:r>
          </a:p>
          <a:p>
            <a:r>
              <a:rPr lang="en-US" dirty="0"/>
              <a:t>Sugar and salt are the primary drivers of low health scores</a:t>
            </a:r>
          </a:p>
          <a:p>
            <a:r>
              <a:rPr lang="en-US" dirty="0"/>
              <a:t>A few brands consistently outperform others in health metrics</a:t>
            </a:r>
          </a:p>
          <a:p>
            <a:r>
              <a:rPr lang="en-US" dirty="0"/>
              <a:t>Many products can improve health score with small reformulation changes</a:t>
            </a:r>
          </a:p>
          <a:p>
            <a:r>
              <a:rPr lang="en-US" dirty="0"/>
              <a:t>Vegan and palm-oil-free products offer strong marketing opportunities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3805-968A-C205-8702-B92524620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F01FB-5F45-AE67-DBC1-D4E98E81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697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EB31-9D4C-C90D-C84E-2680B8F6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A43C-7907-88BF-E68C-D4C8B16D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how open nutrition data can be transformed into actionable business insights.</a:t>
            </a:r>
            <a:br>
              <a:rPr lang="en-US" dirty="0"/>
            </a:br>
            <a:r>
              <a:rPr lang="en-US" dirty="0"/>
              <a:t>By combining </a:t>
            </a:r>
            <a:r>
              <a:rPr lang="en-US" b="1" dirty="0"/>
              <a:t>Python, SQL, and Power BI</a:t>
            </a:r>
            <a:r>
              <a:rPr lang="en-US" dirty="0"/>
              <a:t>, the analysis helps FMCG companies:</a:t>
            </a:r>
          </a:p>
          <a:p>
            <a:r>
              <a:rPr lang="en-US" dirty="0"/>
              <a:t>Understand product health performance</a:t>
            </a:r>
          </a:p>
          <a:p>
            <a:r>
              <a:rPr lang="en-US" dirty="0"/>
              <a:t>Identify reformulation priorities</a:t>
            </a:r>
          </a:p>
          <a:p>
            <a:r>
              <a:rPr lang="en-US" dirty="0"/>
              <a:t>Strengthen brand positioning</a:t>
            </a:r>
          </a:p>
          <a:p>
            <a:r>
              <a:rPr lang="en-US" dirty="0"/>
              <a:t>Make data-driven marketing decisions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D1049-93E4-14C3-FE1A-DCAB41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24DDA-BB73-E84C-8834-4E01A50C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751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DE3C4CD-310B-420D-88C0-84E551F3A05F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1ec9d899-ebd3-49e3-a39c-18a7024b42a8&amp;groupId=7c0e85e7-77a8-4257-aed6-2504bc2e7d3f&amp;w=2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+1aWW/jNhD+K4aAAi0gFNRBScxbTiTAdpPG27RAsQh4jGztypJLUem6Qf57h5SctIZzbOI4ThA/iYfImW++OUj50lNFMy357COfgLfl7dT11wnXXweB53tV18dlkPJUZiLLJQkDJVhmR+upKeqq8bYuPcP1CMxZ0bS8tAth55+ffY+X5Qkf2VbOywZ8bwq6qSteFv9ANxmHjG7hyvfg27SsNbdLDg03YJe9wOnYRhGCnyPckUtTXMAQpOl6FeUJyTmjUSaCKI0ICSROa7oJTrKlU+zSbvvdujK8qHAb20czJUiQkCxNUwEkYaGIbH9elKafImb736YatUOdZ1MLzra64JUE5TkVNDSdxJfe9mikYcRN39z/3+BuXbaTJf3DutUSTiF3Q5UpzAz3ODg+HewcDfa2h4c7x6d73hXidaJrRNMN46NqpXHdB23Vo0Ntc1z/vasB4VTeFrn6jD1NUY3KHv0bID51ykiurSK1+IIQWoXxhVor0Dszp/Neoefgh/6C6BugLyqIXUkep7lSmUiIlDQHBln2Gsx4CLw04/NG1hoWdAverC3vVrozKBAIskQFYRIREYoUCEsfb9BfgDethhXJ/8Pgt2rsdJgNel423pqttRaNOlMEPGORjCgnDEIKOc1oeK8pdhGFUa0LiXovWmOlZOo3mi0xgL9Jnv7ggO2vH8PeIeXtUN7PZSfP7phrs/kB6I5kMi84cMqX/5QU1yyzSjwXf9HbcIxRygRXnOZUQhSzRKT5u7u9cGIVXL8Sbt+XXF+e4CFJGZNRguk9VlTJPAjo26vVXiCMvxbffEQq3ACpdzSv1ILM4SNCSYNpFnm+NJwsdc0/nB9sCs87H06ETCChmcTikNNIJSRWt/twf6egRBxESoRZHhCV4bGcJykisDkm/m4P7xXLUhWHYcYIlTIK0zhMkuRGsU/19CO2OmisOGfzKw5MEwe6njiM+ruYphV/tYA+vJhBhvMBfP51/nDXSrld4jbFfa9jI7EJYQgl0u3hkb9ruC2W+4h/LUMBJbZxj+O1JcrbpbvDvKRLjWgqNDVxFO8ACq2ZvxvR38dgz2YO0EoVc22OFmRvVoi5E5+LEm5/9ZpbV1fubPesyegmXL6XWusqta6p4AhMGSMBUywPmAwFjTKu5OPrrNVWKt0dbHM+5eXkvC7KN1Oy3EtvVVeteSUE36hz8hLKdDyPCONcBEGEFYVklEU0jp9wntCFGU/AFM5XPkBuNgRz3zstRmMnzVDidLV/0dFr49jhdwLa70G2cYwvcFMj/NGivwQP8fKVCn3UnF8gPNV7wHkPOA9mSn9vkREuk1AqQonkLA8TCU+IMy8P6iMc4Nnqp8GPAoP7T+9Xz2tk+HL8++IxiQXJIkljGqUhHvEZewLZV/216vCNfX1boo+zg514I6A3AT1ym9ataaZcwgmvumPmtFutADcPwceDAKj+2V06fCjQbh0MZ7xs3VHS/kFjfhjE379BjBPpGCIAAA==&quot;"/>
    <we:property name="datasetId" value="&quot;e48bd6b4-46b1-4167-92eb-ba6543c6f0f4&quot;"/>
    <we:property name="pageName" value="&quot;d5a60fa9538b1373001c&quot;"/>
    <we:property name="reportUrl" value="&quot;/links/S5wNtaSUs_?ctid=452a0083-a6e2-46aa-8082-480002eeb4b5&amp;bookmarkGuid=a35e8050-e8a6-4722-b9ea-c784d4050085&quot;"/>
    <we:property name="reportName" value="&quot;personal final project&quot;"/>
    <we:property name="reportState" value="&quot;CONNECTED&quot;"/>
    <we:property name="pageDisplayName" value="&quot;Page 1&quot;"/>
    <we:property name="backgroundColor" value="&quot;#F1F2F7&quot;"/>
    <we:property name="initialStateBookmark" value="&quot;H4sIAAAAAAAAA+1a227jNhD9FUNAgRYQCupCScxbrkiwmziNt2mBYhFQ5MjWriy5FOVdN8i/d0jJSWs4l00cxwnyJlJjcubMmQspXzoyrycFn53wMThbzk5VfR1z9bXnOa5TdnP9/ofj7bMPFyfbx/s4XU10XpW1s3XpaK6GoM/zuuGFWQEn//rsOrwoTvnQjDJe1OA6E1B1VfIi/wdaYXylVQNXrgPfJ0WluFlyoLkGs+wUxXGMe3u/BrgjFzqfwgCEbmcl5RHJOKNBknpBHBDiCRSrWwGr2VIRs7TdfrcqNc9L3MbM0USmxItIEsdxCiRifhqY+SwvdCeSzva/TxRahzbPJgaVbTnlpQDpWBMU1K3Gl872cKhgyHU33P/fy92qaMZL5gdVowScQWZflTrXM9zjoH/W2znq7W0PDnf6Z3vOFeJ1qipE077GR9kIbacPmrJDh5rhqPq2qwDhlM4WufqMM3VeDosO/RsgPrXGCK6MIVX6BSE0BuMPKiVB7cyszXu5moPvuwuqb4C9aCBORVkYZ1ImaUSEoBkwSJLX4MZD4IUeXdSiUrBgm/dmfXm30a1DgYCXRNLzo4CkfhoDYfHjHXoMvG4UrEj/n3q/lyNrw6zX8bJ21uyttVjUusLjCQtEQDlh4FPIaEL9e12xiygMK5ULtHvRGyslU7fRbIkD3E2K9AcnbHf9GHYBKW6H8n4uW312R1zpzU9AdxSTecOBIl/+01Jcs8wY8Vz8xWjDd4xSlnLJaUYFBCGL0jh7D7cXLqwpV6+E2/cV15cnuE9ixkQQYXkPJZUi8zz69nq1F0jjryU2H1EKN0DrHcVLuaCz/4hUUmOZRZ4vTSdLQ/NPGwebwvM2hqNURBDRRGBzyGkgIxLK22O4u0yQaegFMvWTzCMywWM5j2JEYHNc/MMR3hmWxDL0/YQRKkTgx6EfRdGNYZ+qyQmOWmiMOufzKw4sEweqGluMukuYukn/bgBjeLGCDOYv8Pm3+cNdK2VmidsMd52WjcQUhAEUSLeHZ/52YLdYHiPutQ45FDjGPfprK5S3a3eHe0lbGtFV6GpiKd4C5Bs3/zCif4zAnM0soKXM59YcLeherxBzqz5PC7j9p9fcurqyZ7tnLUY36fK91VpXq3VNBUtgyhjxmGSZx4Sf0iDhUjy+z1ptp9LewdYXE16ML6q8eDMty730llXZ6FdC8I06Jy+hTMvzgDDOU88LsKMQjLKAhuETzhMq16Mx6NzGykfI9IZg7jpn+XBktRkIFJf705ZeG8cOt1XQfA8ygz7+gOsK4Q8W48V7SJSvVOmj+mKK8JTvCec94TyYKd29RUK4iHwhCSWCs8yPBDwhz7w8qI8IgGfrn3o/p5jcf3m/el4jw5fj3zWPUZiSJBA0pEHs4xGfsSeQfdVfqw7f2Ne3JfZYPxjBGwWdMaih3bRqdD3hAk552R4zJ+1qOVg5BB8PAiC7Z3vp8DFHv7UwnPOiMQiYf2E4dg8EJu+Ojg+Q73T7F7ZIkntAIgAA&quot;"/>
    <we:property name="isFooterCollapsed" value="true"/>
    <we:property name="isFiltersActionButtonVisible" value="true"/>
    <we:property name="isVisualContainerHeaderHidden" value="false"/>
    <we:property name="reportEmbeddedTime" value="&quot;2026-01-02T09:26:39.571Z&quot;"/>
    <we:property name="creatorTenantId" value="&quot;452a0083-a6e2-46aa-8082-480002eeb4b5&quot;"/>
    <we:property name="creatorUserId" value="&quot;10032005095AF0EB&quot;"/>
    <we:property name="creatorSessionId" value="&quot;1ac56368-6bb3-4b6f-966b-09a5dc55f6f6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17644</TotalTime>
  <Words>246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Adani Regular</vt:lpstr>
      <vt:lpstr>Aptos</vt:lpstr>
      <vt:lpstr>Aptos Display</vt:lpstr>
      <vt:lpstr>Arial</vt:lpstr>
      <vt:lpstr>Calibri</vt:lpstr>
      <vt:lpstr>Adani</vt:lpstr>
      <vt:lpstr>Custom Design</vt:lpstr>
      <vt:lpstr>PowerPoint Presentation</vt:lpstr>
      <vt:lpstr>PROJECT OVERVIEW</vt:lpstr>
      <vt:lpstr>DATA SOURCE &amp; TOOLS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Utkarsh  Sharma</dc:creator>
  <cp:lastModifiedBy>MahendraKumar</cp:lastModifiedBy>
  <cp:revision>139</cp:revision>
  <cp:lastPrinted>2023-06-13T10:48:11Z</cp:lastPrinted>
  <dcterms:created xsi:type="dcterms:W3CDTF">2022-04-02T05:42:11Z</dcterms:created>
  <dcterms:modified xsi:type="dcterms:W3CDTF">2026-01-30T05:32:41Z</dcterms:modified>
</cp:coreProperties>
</file>